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7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32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6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2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7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39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5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4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02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23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1402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38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9651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33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77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3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EE78A-AFA7-45DB-A1BC-395AA58D7A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F74B53B-BEDB-41FA-8B13-8EA95DB35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436" y="2554664"/>
            <a:ext cx="8369030" cy="3843446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Project of Information Security</a:t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b="1" u="sng" dirty="0" err="1" smtClean="0">
                <a:solidFill>
                  <a:schemeClr val="tx1"/>
                </a:solidFill>
              </a:rPr>
              <a:t>Deffie</a:t>
            </a:r>
            <a:r>
              <a:rPr lang="en-US" sz="3200" b="1" u="sng" dirty="0" smtClean="0">
                <a:solidFill>
                  <a:schemeClr val="tx1"/>
                </a:solidFill>
              </a:rPr>
              <a:t> </a:t>
            </a:r>
            <a:r>
              <a:rPr lang="en-US" sz="3200" b="1" u="sng" dirty="0" err="1" smtClean="0">
                <a:solidFill>
                  <a:schemeClr val="tx1"/>
                </a:solidFill>
              </a:rPr>
              <a:t>HellMan</a:t>
            </a:r>
            <a:r>
              <a:rPr lang="en-US" sz="3200" b="1" u="sng" dirty="0" smtClean="0">
                <a:solidFill>
                  <a:schemeClr val="tx1"/>
                </a:solidFill>
              </a:rPr>
              <a:t> Key Exchange simulator</a:t>
            </a:r>
            <a:br>
              <a:rPr lang="en-US" sz="3200" b="1" u="sng" dirty="0" smtClean="0">
                <a:solidFill>
                  <a:schemeClr val="tx1"/>
                </a:solidFill>
              </a:rPr>
            </a:br>
            <a:r>
              <a:rPr lang="en-US" sz="3200" b="1" u="sng" dirty="0" smtClean="0">
                <a:solidFill>
                  <a:schemeClr val="tx1"/>
                </a:solidFill>
              </a:rPr>
              <a:t/>
            </a:r>
            <a:br>
              <a:rPr lang="en-US" sz="3200" b="1" u="sng" dirty="0" smtClean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Group Members:</a:t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/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Mubashar </a:t>
            </a:r>
            <a:r>
              <a:rPr lang="en-US" sz="3200" dirty="0" err="1" smtClean="0">
                <a:solidFill>
                  <a:schemeClr val="tx1"/>
                </a:solidFill>
              </a:rPr>
              <a:t>Munir</a:t>
            </a:r>
            <a:r>
              <a:rPr lang="en-US" sz="3200" dirty="0" smtClean="0">
                <a:solidFill>
                  <a:schemeClr val="tx1"/>
                </a:solidFill>
              </a:rPr>
              <a:t>         48</a:t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Bilal Nasir                 06</a:t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Abdul </a:t>
            </a:r>
            <a:r>
              <a:rPr lang="en-US" sz="3200" dirty="0" err="1" smtClean="0">
                <a:solidFill>
                  <a:schemeClr val="tx1"/>
                </a:solidFill>
              </a:rPr>
              <a:t>Saboor</a:t>
            </a:r>
            <a:r>
              <a:rPr lang="en-US" sz="3200" dirty="0" smtClean="0">
                <a:solidFill>
                  <a:schemeClr val="tx1"/>
                </a:solidFill>
              </a:rPr>
              <a:t>             40</a:t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err="1" smtClean="0">
                <a:solidFill>
                  <a:schemeClr val="tx1"/>
                </a:solidFill>
              </a:rPr>
              <a:t>Rehmatullah</a:t>
            </a:r>
            <a:r>
              <a:rPr lang="en-US" sz="3200" dirty="0" smtClean="0">
                <a:solidFill>
                  <a:schemeClr val="tx1"/>
                </a:solidFill>
              </a:rPr>
              <a:t>              56</a:t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err="1" smtClean="0">
                <a:solidFill>
                  <a:schemeClr val="tx1"/>
                </a:solidFill>
              </a:rPr>
              <a:t>Mairaj</a:t>
            </a:r>
            <a:r>
              <a:rPr lang="en-US" sz="3200" dirty="0" smtClean="0">
                <a:solidFill>
                  <a:schemeClr val="tx1"/>
                </a:solidFill>
              </a:rPr>
              <a:t>                       46</a:t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/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     Submitted To : Dr. </a:t>
            </a:r>
            <a:r>
              <a:rPr lang="en-US" sz="3200" dirty="0" err="1" smtClean="0">
                <a:solidFill>
                  <a:schemeClr val="tx1"/>
                </a:solidFill>
              </a:rPr>
              <a:t>Rabia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</a:rPr>
              <a:t>Riaz</a:t>
            </a:r>
            <a:r>
              <a:rPr lang="en-US" sz="3200" dirty="0" smtClean="0">
                <a:solidFill>
                  <a:schemeClr val="tx1"/>
                </a:solidFill>
              </a:rPr>
              <a:t/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Class: BS CS V (A)</a:t>
            </a:r>
            <a:endParaRPr lang="en-US" sz="32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25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2433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cs typeface="Arial" panose="020B0604020202020204" pitchFamily="34" charset="0"/>
              </a:rPr>
              <a:t> </a:t>
            </a:r>
            <a:endParaRPr lang="en-US" sz="2000" b="1" dirty="0">
              <a:cs typeface="Arial" panose="020B0604020202020204" pitchFamily="34" charset="0"/>
            </a:endParaRPr>
          </a:p>
          <a:p>
            <a:r>
              <a:rPr lang="en-US" sz="2000" dirty="0">
                <a:cs typeface="Arial" panose="020B0604020202020204" pitchFamily="34" charset="0"/>
              </a:rPr>
              <a:t>Traditional communication over a network is insecure because attackers can intercept messages and steal secret keys.</a:t>
            </a:r>
            <a:br>
              <a:rPr lang="en-US" sz="2000" dirty="0">
                <a:cs typeface="Arial" panose="020B0604020202020204" pitchFamily="34" charset="0"/>
              </a:rPr>
            </a:br>
            <a:r>
              <a:rPr lang="en-US" sz="2000" dirty="0">
                <a:cs typeface="Arial" panose="020B0604020202020204" pitchFamily="34" charset="0"/>
              </a:rPr>
              <a:t>There must be a way for two parties to generate a shared secret key without sending it directly.</a:t>
            </a:r>
          </a:p>
          <a:p>
            <a:r>
              <a:rPr lang="en-US" sz="2000" b="1" dirty="0">
                <a:cs typeface="Arial" panose="020B0604020202020204" pitchFamily="34" charset="0"/>
              </a:rPr>
              <a:t>The problem:</a:t>
            </a:r>
            <a:endParaRPr lang="en-US" sz="2000" dirty="0">
              <a:cs typeface="Arial" panose="020B0604020202020204" pitchFamily="34" charset="0"/>
            </a:endParaRPr>
          </a:p>
          <a:p>
            <a:r>
              <a:rPr lang="en-US" sz="2000" dirty="0">
                <a:cs typeface="Arial" panose="020B0604020202020204" pitchFamily="34" charset="0"/>
              </a:rPr>
              <a:t>How can Alice and Bob communicate securely over an insecure channel?</a:t>
            </a:r>
          </a:p>
          <a:p>
            <a:r>
              <a:rPr lang="en-US" sz="2000" dirty="0">
                <a:cs typeface="Arial" panose="020B0604020202020204" pitchFamily="34" charset="0"/>
              </a:rPr>
              <a:t>How can they agree on a shared key while preventing eavesdroppers?</a:t>
            </a:r>
          </a:p>
          <a:p>
            <a:r>
              <a:rPr lang="en-US" sz="2000" dirty="0">
                <a:cs typeface="Arial" panose="020B0604020202020204" pitchFamily="34" charset="0"/>
              </a:rPr>
              <a:t>This project addresses this problem by simulating a secure key exchange using the </a:t>
            </a:r>
            <a:r>
              <a:rPr lang="en-US" sz="2000" dirty="0" err="1">
                <a:cs typeface="Arial" panose="020B0604020202020204" pitchFamily="34" charset="0"/>
              </a:rPr>
              <a:t>Diffie</a:t>
            </a:r>
            <a:r>
              <a:rPr lang="en-US" sz="2000" dirty="0">
                <a:cs typeface="Arial" panose="020B0604020202020204" pitchFamily="34" charset="0"/>
              </a:rPr>
              <a:t>–Hellman algorithm</a:t>
            </a:r>
          </a:p>
        </p:txBody>
      </p:sp>
    </p:spTree>
    <p:extLst>
      <p:ext uri="{BB962C8B-B14F-4D97-AF65-F5344CB8AC3E}">
        <p14:creationId xmlns:p14="http://schemas.microsoft.com/office/powerpoint/2010/main" val="2883960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32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To simulate how </a:t>
            </a:r>
            <a:r>
              <a:rPr lang="en-US" sz="2000" dirty="0" err="1"/>
              <a:t>Diffie</a:t>
            </a:r>
            <a:r>
              <a:rPr lang="en-US" sz="2000" dirty="0"/>
              <a:t>–Hellman key exchange works in real time</a:t>
            </a:r>
          </a:p>
          <a:p>
            <a:r>
              <a:rPr lang="en-US" sz="2000" dirty="0"/>
              <a:t>To visually demonstrate public key generation and exchange</a:t>
            </a:r>
          </a:p>
          <a:p>
            <a:r>
              <a:rPr lang="en-US" sz="2000" dirty="0"/>
              <a:t>To validate prime number </a:t>
            </a:r>
            <a:r>
              <a:rPr lang="en-US" sz="2000" b="1" dirty="0"/>
              <a:t>p</a:t>
            </a:r>
            <a:r>
              <a:rPr lang="en-US" sz="2000" dirty="0"/>
              <a:t> and primitive root </a:t>
            </a:r>
            <a:r>
              <a:rPr lang="en-US" sz="2000" b="1" dirty="0"/>
              <a:t>g</a:t>
            </a:r>
            <a:endParaRPr lang="en-US" sz="2000" dirty="0"/>
          </a:p>
          <a:p>
            <a:r>
              <a:rPr lang="en-US" sz="2000" dirty="0"/>
              <a:t>To generate a shared secret key securely</a:t>
            </a:r>
          </a:p>
          <a:p>
            <a:r>
              <a:rPr lang="en-US" sz="2000" dirty="0"/>
              <a:t>To encrypt and decrypt a message using the shared key</a:t>
            </a:r>
          </a:p>
          <a:p>
            <a:r>
              <a:rPr lang="en-US" sz="2000" dirty="0"/>
              <a:t>To provide a user-friendly GUI for better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53724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 / Related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53579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/>
              <a:t>Cryptography:</a:t>
            </a:r>
            <a:r>
              <a:rPr lang="en-US" sz="2000" dirty="0"/>
              <a:t> Techniques for secure communication</a:t>
            </a:r>
          </a:p>
          <a:p>
            <a:r>
              <a:rPr lang="en-US" sz="2000" b="1" dirty="0"/>
              <a:t>Prime Numbers:</a:t>
            </a:r>
            <a:r>
              <a:rPr lang="en-US" sz="2000" dirty="0"/>
              <a:t> Essential for modular arithmetic</a:t>
            </a:r>
          </a:p>
          <a:p>
            <a:r>
              <a:rPr lang="en-US" sz="2000" b="1" dirty="0"/>
              <a:t>Primitive Root:</a:t>
            </a:r>
            <a:r>
              <a:rPr lang="en-US" sz="2000" dirty="0"/>
              <a:t> Generates all values modulo p</a:t>
            </a:r>
          </a:p>
          <a:p>
            <a:r>
              <a:rPr lang="en-US" sz="2000" b="1" dirty="0"/>
              <a:t>Modular Exponentiation:</a:t>
            </a:r>
            <a:r>
              <a:rPr lang="en-US" sz="2000" dirty="0"/>
              <a:t> Used for generating public and secret keys</a:t>
            </a:r>
          </a:p>
          <a:p>
            <a:r>
              <a:rPr lang="en-US" sz="2000" b="1" dirty="0" err="1"/>
              <a:t>Diffie</a:t>
            </a:r>
            <a:r>
              <a:rPr lang="en-US" sz="2000" b="1" dirty="0"/>
              <a:t>–Hellman Algorithm:</a:t>
            </a:r>
            <a:r>
              <a:rPr lang="en-US" sz="2000" dirty="0"/>
              <a:t> Enables secure key exchange</a:t>
            </a:r>
          </a:p>
          <a:p>
            <a:r>
              <a:rPr lang="en-US" sz="2000" b="1" dirty="0" err="1"/>
              <a:t>Tkinter</a:t>
            </a:r>
            <a:r>
              <a:rPr lang="en-US" sz="2000" b="1" dirty="0"/>
              <a:t>:</a:t>
            </a:r>
            <a:r>
              <a:rPr lang="en-US" sz="2000" dirty="0"/>
              <a:t> Python GUI library</a:t>
            </a:r>
          </a:p>
          <a:p>
            <a:r>
              <a:rPr lang="en-US" sz="2000" b="1" dirty="0"/>
              <a:t>Canvas Animation:</a:t>
            </a:r>
            <a:r>
              <a:rPr lang="en-US" sz="2000" dirty="0"/>
              <a:t> Used for public key movement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74346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/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</a:t>
            </a:r>
            <a:r>
              <a:rPr lang="en-US" sz="2000" dirty="0"/>
              <a:t>developed a graphical simulator where:</a:t>
            </a:r>
          </a:p>
          <a:p>
            <a:r>
              <a:rPr lang="en-US" sz="2000" dirty="0"/>
              <a:t>User enters a prime number </a:t>
            </a:r>
            <a:r>
              <a:rPr lang="en-US" sz="2000" i="1" dirty="0"/>
              <a:t>p</a:t>
            </a:r>
            <a:r>
              <a:rPr lang="en-US" sz="2000" dirty="0"/>
              <a:t> and primitive root </a:t>
            </a:r>
            <a:r>
              <a:rPr lang="en-US" sz="2000" i="1" dirty="0"/>
              <a:t>g</a:t>
            </a:r>
            <a:endParaRPr lang="en-US" sz="2000" dirty="0"/>
          </a:p>
          <a:p>
            <a:r>
              <a:rPr lang="en-US" sz="2000" dirty="0"/>
              <a:t>Alice and Bob enter their private keys</a:t>
            </a:r>
          </a:p>
          <a:p>
            <a:r>
              <a:rPr lang="en-US" sz="2000" dirty="0"/>
              <a:t>Program automatically generates their public keys</a:t>
            </a:r>
          </a:p>
          <a:p>
            <a:r>
              <a:rPr lang="en-US" sz="2000" dirty="0"/>
              <a:t>Public keys are exchanged using animation</a:t>
            </a:r>
          </a:p>
          <a:p>
            <a:r>
              <a:rPr lang="en-US" sz="2000" dirty="0"/>
              <a:t>Shared secret key is computed on both sides</a:t>
            </a:r>
          </a:p>
          <a:p>
            <a:r>
              <a:rPr lang="en-US" sz="2000" dirty="0"/>
              <a:t>User enters a message to encrypt</a:t>
            </a:r>
          </a:p>
          <a:p>
            <a:r>
              <a:rPr lang="en-US" sz="2000" dirty="0"/>
              <a:t>The message is encrypted and decrypted using the shared key</a:t>
            </a:r>
          </a:p>
          <a:p>
            <a:r>
              <a:rPr lang="en-US" sz="2000" dirty="0"/>
              <a:t>This solution visually explains end-to-end secure key generation.</a:t>
            </a:r>
          </a:p>
        </p:txBody>
      </p:sp>
    </p:spTree>
    <p:extLst>
      <p:ext uri="{BB962C8B-B14F-4D97-AF65-F5344CB8AC3E}">
        <p14:creationId xmlns:p14="http://schemas.microsoft.com/office/powerpoint/2010/main" val="2345744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Technologies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b="1" dirty="0"/>
              <a:t>Programming Language:</a:t>
            </a:r>
            <a:r>
              <a:rPr lang="en-US" sz="2000" dirty="0"/>
              <a:t> Python</a:t>
            </a:r>
          </a:p>
          <a:p>
            <a:r>
              <a:rPr lang="en-US" sz="2000" b="1" dirty="0"/>
              <a:t>GUI Framework:</a:t>
            </a:r>
            <a:r>
              <a:rPr lang="en-US" sz="2000" dirty="0"/>
              <a:t> </a:t>
            </a:r>
            <a:r>
              <a:rPr lang="en-US" sz="2000" dirty="0" err="1"/>
              <a:t>Tkinter</a:t>
            </a:r>
            <a:endParaRPr lang="en-US" sz="2000" dirty="0"/>
          </a:p>
          <a:p>
            <a:r>
              <a:rPr lang="en-US" sz="2000" b="1" dirty="0"/>
              <a:t>Animation:</a:t>
            </a:r>
            <a:r>
              <a:rPr lang="en-US" sz="2000" dirty="0"/>
              <a:t> </a:t>
            </a:r>
            <a:r>
              <a:rPr lang="en-US" sz="2000" dirty="0" err="1"/>
              <a:t>Tkinter</a:t>
            </a:r>
            <a:r>
              <a:rPr lang="en-US" sz="2000" dirty="0"/>
              <a:t> Canvas + Threading</a:t>
            </a:r>
          </a:p>
          <a:p>
            <a:r>
              <a:rPr lang="en-US" sz="2000" b="1" dirty="0"/>
              <a:t>Logic:</a:t>
            </a:r>
            <a:r>
              <a:rPr lang="en-US" sz="2000" dirty="0"/>
              <a:t> Modular arithmetic, exponentiation</a:t>
            </a:r>
          </a:p>
          <a:p>
            <a:r>
              <a:rPr lang="en-US" sz="2000" b="1" dirty="0"/>
              <a:t>Libraries:</a:t>
            </a:r>
            <a:endParaRPr lang="en-US" sz="2000" dirty="0"/>
          </a:p>
          <a:p>
            <a:pPr lvl="1"/>
            <a:r>
              <a:rPr lang="en-US" sz="2000" dirty="0"/>
              <a:t>threading</a:t>
            </a:r>
          </a:p>
          <a:p>
            <a:pPr lvl="1"/>
            <a:r>
              <a:rPr lang="en-US" sz="2000" dirty="0"/>
              <a:t>time</a:t>
            </a:r>
          </a:p>
          <a:p>
            <a:pPr lvl="1"/>
            <a:r>
              <a:rPr lang="en-US" sz="2000" dirty="0"/>
              <a:t>math (for prime &amp; primitive root checks)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8706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/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5810"/>
            <a:ext cx="8596668" cy="3880773"/>
          </a:xfrm>
        </p:spPr>
        <p:txBody>
          <a:bodyPr>
            <a:noAutofit/>
          </a:bodyPr>
          <a:lstStyle/>
          <a:p>
            <a:r>
              <a:rPr lang="en-US" sz="2000" b="1" dirty="0" err="1" smtClean="0"/>
              <a:t>Diffie</a:t>
            </a:r>
            <a:r>
              <a:rPr lang="en-US" sz="2000" b="1" dirty="0" smtClean="0"/>
              <a:t>–Hellman </a:t>
            </a:r>
            <a:r>
              <a:rPr lang="en-US" sz="2000" b="1" dirty="0"/>
              <a:t>Algorithm:</a:t>
            </a:r>
            <a:endParaRPr lang="en-US" sz="2000" dirty="0"/>
          </a:p>
          <a:p>
            <a:r>
              <a:rPr lang="en-US" sz="2000" dirty="0"/>
              <a:t>Choose p (prime) and g (primitive root)</a:t>
            </a:r>
          </a:p>
          <a:p>
            <a:r>
              <a:rPr lang="en-US" sz="2000" dirty="0"/>
              <a:t>Alice selects private key a</a:t>
            </a:r>
          </a:p>
          <a:p>
            <a:r>
              <a:rPr lang="en-US" sz="2000" dirty="0"/>
              <a:t>Bob selects private key b</a:t>
            </a:r>
          </a:p>
          <a:p>
            <a:r>
              <a:rPr lang="en-US" sz="2000" dirty="0"/>
              <a:t>Alice computes A = gᵃ mod p</a:t>
            </a:r>
          </a:p>
          <a:p>
            <a:r>
              <a:rPr lang="en-US" sz="2000" dirty="0"/>
              <a:t>Bob computes B = gᵇ mod p</a:t>
            </a:r>
          </a:p>
          <a:p>
            <a:r>
              <a:rPr lang="en-US" sz="2000" dirty="0"/>
              <a:t>Exchange A ↔ B</a:t>
            </a:r>
          </a:p>
          <a:p>
            <a:r>
              <a:rPr lang="en-US" sz="2000" dirty="0"/>
              <a:t>Alice computes K = Bᵃ mod p</a:t>
            </a:r>
          </a:p>
          <a:p>
            <a:r>
              <a:rPr lang="en-US" sz="2000" dirty="0"/>
              <a:t>Bob computes K = Aᵇ mod p</a:t>
            </a:r>
          </a:p>
          <a:p>
            <a:r>
              <a:rPr lang="en-US" sz="2000" dirty="0"/>
              <a:t>Both obtain the same shared key K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868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5554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Our </a:t>
            </a:r>
            <a:r>
              <a:rPr lang="en-US" sz="2000" dirty="0"/>
              <a:t>simulator successfully demonstrates:</a:t>
            </a:r>
          </a:p>
          <a:p>
            <a:r>
              <a:rPr lang="en-US" sz="2000" dirty="0"/>
              <a:t>Real-time validation of prime and primitive root</a:t>
            </a:r>
          </a:p>
          <a:p>
            <a:r>
              <a:rPr lang="en-US" sz="2000" dirty="0"/>
              <a:t>Correct generation of public keys</a:t>
            </a:r>
          </a:p>
          <a:p>
            <a:r>
              <a:rPr lang="en-US" sz="2000" dirty="0"/>
              <a:t>Smooth animation of key exchange</a:t>
            </a:r>
          </a:p>
          <a:p>
            <a:r>
              <a:rPr lang="en-US" sz="2000" dirty="0"/>
              <a:t>Same shared key generated on both sides</a:t>
            </a:r>
          </a:p>
          <a:p>
            <a:r>
              <a:rPr lang="en-US" sz="2000" dirty="0"/>
              <a:t>Message encrypted and decrypted correctly</a:t>
            </a:r>
          </a:p>
          <a:p>
            <a:r>
              <a:rPr lang="en-US" sz="2000" dirty="0"/>
              <a:t>Clear visual representation of cryptographic process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0994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20" y="192833"/>
            <a:ext cx="8596668" cy="1320800"/>
          </a:xfrm>
        </p:spPr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20" y="1366887"/>
            <a:ext cx="9284314" cy="532143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4056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Analysis /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13834"/>
            <a:ext cx="8596668" cy="3880773"/>
          </a:xfrm>
        </p:spPr>
        <p:txBody>
          <a:bodyPr>
            <a:noAutofit/>
          </a:bodyPr>
          <a:lstStyle/>
          <a:p>
            <a:endParaRPr lang="en-US" sz="2000" b="1" dirty="0"/>
          </a:p>
          <a:p>
            <a:r>
              <a:rPr lang="en-US" sz="2000" b="1" dirty="0"/>
              <a:t>Accuracy:</a:t>
            </a:r>
            <a:endParaRPr lang="en-US" sz="2000" dirty="0"/>
          </a:p>
          <a:p>
            <a:pPr lvl="1"/>
            <a:r>
              <a:rPr lang="en-US" sz="2000" dirty="0"/>
              <a:t>Correct prime &amp; primitive root detection</a:t>
            </a:r>
          </a:p>
          <a:p>
            <a:pPr lvl="1"/>
            <a:r>
              <a:rPr lang="en-US" sz="2000" dirty="0"/>
              <a:t>Shared key always matches on Alice and Bob sides</a:t>
            </a:r>
          </a:p>
          <a:p>
            <a:r>
              <a:rPr lang="en-US" sz="2000" b="1" dirty="0"/>
              <a:t>Efficiency:</a:t>
            </a:r>
            <a:endParaRPr lang="en-US" sz="2000" dirty="0"/>
          </a:p>
          <a:p>
            <a:pPr lvl="1"/>
            <a:r>
              <a:rPr lang="en-US" sz="2000" dirty="0"/>
              <a:t>Fast calculation using modular exponentiation</a:t>
            </a:r>
          </a:p>
          <a:p>
            <a:r>
              <a:rPr lang="en-US" sz="2000" b="1" dirty="0"/>
              <a:t>User Experience:</a:t>
            </a:r>
            <a:endParaRPr lang="en-US" sz="2000" dirty="0"/>
          </a:p>
          <a:p>
            <a:pPr lvl="1"/>
            <a:r>
              <a:rPr lang="en-US" sz="2000" dirty="0"/>
              <a:t>Easy to use</a:t>
            </a:r>
          </a:p>
          <a:p>
            <a:pPr lvl="1"/>
            <a:r>
              <a:rPr lang="en-US" sz="2000" dirty="0"/>
              <a:t>Clean interface with animations</a:t>
            </a:r>
          </a:p>
          <a:p>
            <a:r>
              <a:rPr lang="en-US" sz="2000" b="1" dirty="0"/>
              <a:t>Reliability:</a:t>
            </a:r>
            <a:endParaRPr lang="en-US" sz="2000" dirty="0"/>
          </a:p>
          <a:p>
            <a:pPr lvl="1"/>
            <a:r>
              <a:rPr lang="en-US" sz="2000" dirty="0"/>
              <a:t>No mismatch in keys across multiple tests</a:t>
            </a:r>
          </a:p>
        </p:txBody>
      </p:sp>
    </p:spTree>
    <p:extLst>
      <p:ext uri="{BB962C8B-B14F-4D97-AF65-F5344CB8AC3E}">
        <p14:creationId xmlns:p14="http://schemas.microsoft.com/office/powerpoint/2010/main" val="64591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Faced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3261"/>
            <a:ext cx="8596668" cy="3880773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dirty="0"/>
              <a:t>Implementing accurate primitive root validation</a:t>
            </a:r>
          </a:p>
          <a:p>
            <a:r>
              <a:rPr lang="en-US" sz="2000" dirty="0"/>
              <a:t>Managing animations without freezing the GUI</a:t>
            </a:r>
          </a:p>
          <a:p>
            <a:r>
              <a:rPr lang="en-US" sz="2000" dirty="0"/>
              <a:t>Synchronizing exchange animations with key calculations</a:t>
            </a:r>
          </a:p>
          <a:p>
            <a:r>
              <a:rPr lang="en-US" sz="2000" dirty="0"/>
              <a:t>Designing clear and user-friendly layout</a:t>
            </a:r>
          </a:p>
          <a:p>
            <a:r>
              <a:rPr lang="en-US" sz="2000" dirty="0"/>
              <a:t>Ensuring encrypted message displays correctly</a:t>
            </a:r>
          </a:p>
        </p:txBody>
      </p:sp>
    </p:spTree>
    <p:extLst>
      <p:ext uri="{BB962C8B-B14F-4D97-AF65-F5344CB8AC3E}">
        <p14:creationId xmlns:p14="http://schemas.microsoft.com/office/powerpoint/2010/main" val="2381567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6956"/>
            <a:ext cx="8596668" cy="3880773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dirty="0"/>
              <a:t>Only supports small values of p (not industry-level)</a:t>
            </a:r>
          </a:p>
          <a:p>
            <a:r>
              <a:rPr lang="en-US" sz="2000" dirty="0"/>
              <a:t>Encryption is simplified for demonstration</a:t>
            </a:r>
          </a:p>
          <a:p>
            <a:r>
              <a:rPr lang="en-US" sz="2000" dirty="0"/>
              <a:t>Interface is limited to desktop environments</a:t>
            </a:r>
          </a:p>
          <a:p>
            <a:r>
              <a:rPr lang="en-US" sz="2000" dirty="0"/>
              <a:t>Does not include real cryptographic libraries</a:t>
            </a:r>
          </a:p>
          <a:p>
            <a:r>
              <a:rPr lang="en-US" sz="2000" dirty="0"/>
              <a:t>No network-based real communication — simulation only</a:t>
            </a:r>
          </a:p>
        </p:txBody>
      </p:sp>
    </p:spTree>
    <p:extLst>
      <p:ext uri="{BB962C8B-B14F-4D97-AF65-F5344CB8AC3E}">
        <p14:creationId xmlns:p14="http://schemas.microsoft.com/office/powerpoint/2010/main" val="3478474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38420"/>
            <a:ext cx="8596668" cy="3880773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dirty="0"/>
              <a:t>The project successfully demonstrates how secure key exchange works using the </a:t>
            </a:r>
            <a:r>
              <a:rPr lang="en-US" sz="2000" dirty="0" err="1"/>
              <a:t>Diffie</a:t>
            </a:r>
            <a:r>
              <a:rPr lang="en-US" sz="2000" dirty="0"/>
              <a:t>–Hellman algorithm.</a:t>
            </a:r>
            <a:br>
              <a:rPr lang="en-US" sz="2000" dirty="0"/>
            </a:br>
            <a:r>
              <a:rPr lang="en-US" sz="2000" dirty="0"/>
              <a:t>It provides a complete visual learning tool to understand:</a:t>
            </a:r>
          </a:p>
          <a:p>
            <a:r>
              <a:rPr lang="en-US" sz="2000" dirty="0"/>
              <a:t>Key generation</a:t>
            </a:r>
          </a:p>
          <a:p>
            <a:r>
              <a:rPr lang="en-US" sz="2000" dirty="0"/>
              <a:t>Key exchange</a:t>
            </a:r>
          </a:p>
          <a:p>
            <a:r>
              <a:rPr lang="en-US" sz="2000" dirty="0"/>
              <a:t>Shared secret creation</a:t>
            </a:r>
          </a:p>
          <a:p>
            <a:r>
              <a:rPr lang="en-US" sz="2000" dirty="0"/>
              <a:t>Message encryption and decryption</a:t>
            </a:r>
          </a:p>
          <a:p>
            <a:r>
              <a:rPr lang="en-US" sz="2000" dirty="0"/>
              <a:t>The simulator meets the learning objectives and functions accurately</a:t>
            </a:r>
          </a:p>
        </p:txBody>
      </p:sp>
    </p:spTree>
    <p:extLst>
      <p:ext uri="{BB962C8B-B14F-4D97-AF65-F5344CB8AC3E}">
        <p14:creationId xmlns:p14="http://schemas.microsoft.com/office/powerpoint/2010/main" val="1250296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40078"/>
            <a:ext cx="8596668" cy="3880773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dirty="0"/>
              <a:t>William Stallings — Cryptography &amp; Network Security</a:t>
            </a:r>
          </a:p>
          <a:p>
            <a:r>
              <a:rPr lang="en-US" sz="2000" dirty="0"/>
              <a:t>Behrouz </a:t>
            </a:r>
            <a:r>
              <a:rPr lang="en-US" sz="2000" dirty="0" err="1"/>
              <a:t>Forouzan</a:t>
            </a:r>
            <a:r>
              <a:rPr lang="en-US" sz="2000" dirty="0"/>
              <a:t> — Cryptography &amp; Network Security</a:t>
            </a:r>
          </a:p>
          <a:p>
            <a:r>
              <a:rPr lang="en-US" sz="2000" dirty="0"/>
              <a:t>Python Documentation</a:t>
            </a:r>
          </a:p>
          <a:p>
            <a:r>
              <a:rPr lang="en-US" sz="2000" dirty="0" err="1"/>
              <a:t>Tkinter</a:t>
            </a:r>
            <a:r>
              <a:rPr lang="en-US" sz="2000" dirty="0"/>
              <a:t> Official Documentation</a:t>
            </a:r>
          </a:p>
          <a:p>
            <a:r>
              <a:rPr lang="en-US" sz="2000" dirty="0"/>
              <a:t>Online resources &amp; tutorials related to </a:t>
            </a:r>
            <a:r>
              <a:rPr lang="en-US" sz="2000" dirty="0" err="1"/>
              <a:t>Diffie</a:t>
            </a:r>
            <a:r>
              <a:rPr lang="en-US" sz="2000" dirty="0"/>
              <a:t>–Hellman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699819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513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Project of Information Security Deffie HellMan Key Exchange simulator  Group Members:  Mubashar Munir         48 Bilal Nasir                 06 Abdul Saboor             40 Rehmatullah              56 Mairaj                       46       Submitted To : Dr. Rabia Riaz Class: BS CS V (A)</vt:lpstr>
      <vt:lpstr>Problem Statement</vt:lpstr>
      <vt:lpstr>Objectives of the Project</vt:lpstr>
      <vt:lpstr>Background / Related Concepts</vt:lpstr>
      <vt:lpstr>Proposed Solution / Project Overview</vt:lpstr>
      <vt:lpstr>Tools &amp; Technologies Used</vt:lpstr>
      <vt:lpstr>Algorithm / Logic</vt:lpstr>
      <vt:lpstr>Results &amp; Output</vt:lpstr>
      <vt:lpstr>Output</vt:lpstr>
      <vt:lpstr>Performance Analysis / Evaluation</vt:lpstr>
      <vt:lpstr>Challenges Faced</vt:lpstr>
      <vt:lpstr>Limitations of the Project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# 05 Deffie HellMan</dc:title>
  <dc:creator>Mubashar Abbasi</dc:creator>
  <cp:lastModifiedBy>Mubashar Abbasi</cp:lastModifiedBy>
  <cp:revision>7</cp:revision>
  <dcterms:created xsi:type="dcterms:W3CDTF">2026-02-10T06:50:24Z</dcterms:created>
  <dcterms:modified xsi:type="dcterms:W3CDTF">2026-02-10T07:52:45Z</dcterms:modified>
</cp:coreProperties>
</file>